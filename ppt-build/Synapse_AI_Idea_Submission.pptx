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89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21" y="922081"/>
            <a:ext cx="313822" cy="31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8046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OPTIONS-TRADING THESIS ENGINE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math meets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moment.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intimidating options data and live market news into one clear, plain-English trading thesis — powered by AI.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715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J’s Team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Level 1 — Idea Submission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05672" y="5715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</a:t>
            </a:r>
            <a:endParaRPr lang="en-US" sz="11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traders are drowning in data — and starving for clarity.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749040" cy="365760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in 10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F&amp;O traders in India lose money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SEBI study on individual traders in equity derivatives,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237195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22037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intimidating wall of numbers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577840" y="2624328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chains bury people in Greeks, open interest and implied volatility — unreadable to most.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846320" y="34472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994" y="35789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34107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worlds that never talk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577840" y="3831336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options math says one thing; the news says another. Nobody connects the two.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846320" y="46542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B24A">
              <a:alpha val="16000"/>
            </a:srgbClr>
          </a:solidFill>
          <a:ln w="12700">
            <a:solidFill>
              <a:srgbClr val="F6B24A">
                <a:alpha val="6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478597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46177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show data, not decisions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577840" y="5038344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dump charts and grids, but never answer the only question that matters: 'so what?'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08792" cy="3383280"/>
          </a:xfrm>
          <a:prstGeom prst="roundRect">
            <a:avLst>
              <a:gd name="adj" fmla="val 2703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40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9718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traders have access to more market data than ever — yet less </a:t>
            </a:r>
            <a:r>
              <a:rPr lang="en-US" sz="230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r>
              <a:rPr lang="en-US" sz="23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ever.</a:t>
            </a:r>
            <a:endParaRPr lang="en-US" sz="2300" dirty="0"/>
          </a:p>
          <a:p>
            <a:pPr marL="0" indent="0">
              <a:lnSpc>
                <a:spcPct val="115000"/>
              </a:lnSpc>
              <a:buNone/>
            </a:pPr>
            <a:endParaRPr lang="en-US" sz="2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reconcile what the </a:t>
            </a:r>
            <a:endParaRPr lang="en-US" sz="2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math</a:t>
            </a:r>
            <a:r>
              <a:rPr lang="en-US" sz="23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implies with what real-world </a:t>
            </a:r>
            <a:r>
              <a:rPr lang="en-US" sz="2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r>
              <a:rPr lang="en-US" sz="23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— so they trade blind. No tool translates both into a single, human decision.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9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 exists to close that gap.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 — a translation &amp; synthesis engine.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two worlds that never talk to each other — the live options math and the real-world news — and use AI to find where they disagree. That gap is the edge. The output is one calm, plain-English thesis anyone can act on.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charts to decode. NO jargon. NO data overload.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193792" cy="4160520"/>
          </a:xfrm>
          <a:prstGeom prst="roundRect">
            <a:avLst>
              <a:gd name="adj" fmla="val 2198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20574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671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· NIFTY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mood  </a:t>
            </a:r>
            <a:r>
              <a:rPr lang="en-US" sz="13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lean bullish on NIFTY, near 24,000.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0" y="3447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 </a:t>
            </a:r>
            <a:r>
              <a:rPr lang="en-US" sz="13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unexpectedly paused rate hikes — supportive.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83680" y="41970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 </a:t>
            </a:r>
            <a:r>
              <a:rPr lang="en-US" sz="13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news AGREE — momentum has room to run.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0" y="49469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</a:t>
            </a:r>
            <a:r>
              <a:rPr lang="en-US" sz="13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cautious bet that the price drifts higher.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0" y="5650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information, not financial advice.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engines, one clear answer.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11296" cy="3886200"/>
          </a:xfrm>
          <a:prstGeom prst="roundRect">
            <a:avLst>
              <a:gd name="adj" fmla="val 2604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16" y="250289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GreekSpeak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5840" y="367588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11480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live options chain — Put-Call Ratio, Max Pain — and turns it into a simple bullish or bearish read.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8828" y="1965960"/>
            <a:ext cx="3511296" cy="3886200"/>
          </a:xfrm>
          <a:prstGeom prst="roundRect">
            <a:avLst>
              <a:gd name="adj" fmla="val 2604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4588" y="2331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764" y="2502896"/>
            <a:ext cx="370881" cy="3708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4588" y="3246120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AlphaRAG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704588" y="367588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WORLD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4588" y="411480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reads live market news and retrieves what's relevant using an AI vector memory (RAG).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37576" y="1965960"/>
            <a:ext cx="3511296" cy="3886200"/>
          </a:xfrm>
          <a:prstGeom prst="roundRect">
            <a:avLst>
              <a:gd name="adj" fmla="val 2604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3336" y="233172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37D6EE">
              <a:alpha val="16000"/>
            </a:srgbClr>
          </a:solidFill>
          <a:ln w="12700">
            <a:solidFill>
              <a:srgbClr val="37D6EE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512" y="2502896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3336" y="3246120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03336" y="367588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ALPHA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03336" y="4114800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compares both realities and writes one plain-English thesis — where they agree, where they clash.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lives where the math and the news disagree.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5B8CFF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25895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5054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positioning leans bearish — traders are betting NIFTY drops this expiry.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19672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F6B24A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39712" y="24688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6B24A">
              <a:alpha val="16000"/>
            </a:srgbClr>
          </a:solidFill>
          <a:ln w="12700">
            <a:solidFill>
              <a:srgbClr val="F6B24A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3" y="25895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9792" y="25054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6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39712" y="32004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RBI just paused rate hikes unexpectedly — a strongly bullish real-world signal.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81633"/>
          </a:solidFill>
          <a:ln w="12700">
            <a:solidFill>
              <a:srgbClr val="A78B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5102352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736" y="5273528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95604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detected. </a:t>
            </a:r>
            <a:r>
              <a:rPr lang="en-US" sz="17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realities clash — the market may be mispriced. That gap is the opportunity Synapse surfaces.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SYNAPSE IS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shows data. We deliver a decision.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TRADING TOOLS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44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880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of numbers &amp; Greeks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112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4472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charts and data grids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7822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0142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decode it yourself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64515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5811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news kept separate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21208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51480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experts only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6336792" y="205740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181633"/>
          </a:solidFill>
          <a:ln w="12700">
            <a:solidFill>
              <a:srgbClr val="37D6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6748272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94436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14032" y="2880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plain-English sentence</a:t>
            </a:r>
            <a:endParaRPr lang="en-US" sz="14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511296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14032" y="34472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abstract visuals</a:t>
            </a:r>
            <a:endParaRPr lang="en-US" sz="14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078224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14032" y="40142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interprets it for you</a:t>
            </a:r>
            <a:endParaRPr lang="en-US" sz="14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645152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114032" y="45811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news fused into one view</a:t>
            </a:r>
            <a:endParaRPr lang="en-US" sz="14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5212080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114032" y="51480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1450" dirty="0"/>
          </a:p>
        </p:txBody>
      </p:sp>
      <p:sp>
        <p:nvSpPr>
          <p:cNvPr id="2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an idea — a working prototype.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05456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1912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37D6EE">
              <a:alpha val="16000"/>
            </a:srgbClr>
          </a:solidFill>
          <a:ln w="12700">
            <a:solidFill>
              <a:srgbClr val="37D6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142" y="261811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63931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dashboard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315468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38144" y="2148840"/>
            <a:ext cx="2505456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79976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5B8CFF">
              <a:alpha val="16000"/>
            </a:srgbClr>
          </a:solidFill>
          <a:ln w="12700">
            <a:solidFill>
              <a:srgbClr val="5B8CFF">
                <a:alpha val="6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206" y="2618110"/>
            <a:ext cx="323332" cy="3233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75304" y="3246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engine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3575304" y="363931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pipelines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15468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36208" y="2148840"/>
            <a:ext cx="2505456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78040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270" y="2618110"/>
            <a:ext cx="323332" cy="3233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73368" y="3246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+ RAG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6373368" y="363931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· news · pgvector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315468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34272" y="2148840"/>
            <a:ext cx="2505456" cy="228600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76104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F6B24A">
              <a:alpha val="16000"/>
            </a:srgbClr>
          </a:solidFill>
          <a:ln w="12700">
            <a:solidFill>
              <a:srgbClr val="F6B24A">
                <a:alpha val="6000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334" y="2618110"/>
            <a:ext cx="323332" cy="3233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71432" y="32461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550" dirty="0"/>
          </a:p>
        </p:txBody>
      </p:sp>
      <p:sp>
        <p:nvSpPr>
          <p:cNvPr id="26" name="Text 17"/>
          <p:cNvSpPr/>
          <p:nvPr/>
        </p:nvSpPr>
        <p:spPr>
          <a:xfrm>
            <a:off x="9171432" y="363931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thesis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40080" y="480060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181633"/>
          </a:solidFill>
          <a:ln w="12700">
            <a:solidFill>
              <a:srgbClr val="34D399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1051560" y="510235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568" y="5260360"/>
            <a:ext cx="342351" cy="34235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965960" y="4919472"/>
            <a:ext cx="9372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functional: </a:t>
            </a:r>
            <a:r>
              <a:rPr lang="en-US" sz="16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exchange options data, an AI vector-search news memory, and a plain-English AI thesis — all working end-to-end today.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TIMING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product at the right moment.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7D6EE">
              <a:alpha val="16000"/>
            </a:srgbClr>
          </a:solidFill>
          <a:ln w="12700">
            <a:solidFill>
              <a:srgbClr val="37D6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459" y="24853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largest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NSE is the world's biggest derivatives exchange by contracts traded — retail F&amp;O is booming.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828" y="201168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4588" y="23317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207" y="24853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4588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painful gap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4588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of retail derivatives traders lose money — a desperate, unmet need for clarity and guidance.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37576" y="201168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A2B"/>
          </a:solidFill>
          <a:ln w="12700">
            <a:solidFill>
              <a:srgbClr val="2A3350"/>
            </a:solidFill>
            <a:prstDash val="solid"/>
          </a:ln>
          <a:effectLst>
            <a:outerShdw blurRad="114300" dist="38100" dir="54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23317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6955" y="2485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it possible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03336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makes institutional-grade synthesis affordable for every individual trader, right now.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i="1" dirty="0">
                <a:solidFill>
                  <a:srgbClr val="3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impact:  </a:t>
            </a:r>
            <a:r>
              <a:rPr lang="en-US" sz="1700" i="1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democratise institutional-grade market reasoning — clarity for the everyday trader.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a personal AI markets analyst.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34D399">
              <a:alpha val="2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0" cy="457200"/>
          </a:xfrm>
          <a:prstGeom prst="line">
            <a:avLst/>
          </a:prstGeom>
          <a:noFill/>
          <a:ln w="19050">
            <a:solidFill>
              <a:srgbClr val="2A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84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LEVEL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084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live options + news RAG + AI thesis.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37D6EE">
              <a:alpha val="20000"/>
            </a:srgbClr>
          </a:solidFill>
          <a:ln w="19050">
            <a:solidFill>
              <a:srgbClr val="37D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0" cy="457200"/>
          </a:xfrm>
          <a:prstGeom prst="line">
            <a:avLst/>
          </a:prstGeom>
          <a:noFill/>
          <a:ln w="1905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999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999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instruments, expiry selection, accuracy tuning.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457200" cy="457200"/>
          </a:xfrm>
          <a:prstGeom prst="ellipse">
            <a:avLst/>
          </a:prstGeom>
          <a:solidFill>
            <a:srgbClr val="5B8CFF">
              <a:alpha val="20000"/>
            </a:srgbClr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389120"/>
            <a:ext cx="0" cy="457200"/>
          </a:xfrm>
          <a:prstGeom prst="line">
            <a:avLst/>
          </a:prstGeom>
          <a:noFill/>
          <a:ln w="1905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913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alerts, portfolio view, mobile app.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457200" cy="457200"/>
          </a:xfrm>
          <a:prstGeom prst="ellipse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828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828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AI markets analyst for every retail trader.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76872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Idea Submission · 2 July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4436" y="1691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055" y="184525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math meets the moment.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for every trader — the math, the news, and the edge between them.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21208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J’s Team   -  </a:t>
            </a:r>
            <a:r>
              <a:rPr lang="en-US" sz="2400" dirty="0" err="1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Juveriyah</a:t>
            </a:r>
            <a:r>
              <a:rPr lang="en-US" sz="2400" dirty="0">
                <a:solidFill>
                  <a:srgbClr val="EA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Jaydeep Manchanda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907</Words>
  <Application>Microsoft Office PowerPoint</Application>
  <PresentationFormat>Custom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AI — Idea Submission</dc:title>
  <dc:subject>PptxGenJS Presentation</dc:subject>
  <dc:creator>Synapse AI</dc:creator>
  <cp:lastModifiedBy>Jaydeep Manchanda</cp:lastModifiedBy>
  <cp:revision>2</cp:revision>
  <dcterms:created xsi:type="dcterms:W3CDTF">2026-06-17T15:33:38Z</dcterms:created>
  <dcterms:modified xsi:type="dcterms:W3CDTF">2026-06-17T16:06:01Z</dcterms:modified>
</cp:coreProperties>
</file>